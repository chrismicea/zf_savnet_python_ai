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Merriweather Bold"/>
      <p:regular r:id="rId201314"/>
    </p:embeddedFont>
    <p:embeddedFont>
      <p:font typeface="Open Sans"/>
      <p:regular r:id="rId201315"/>
    </p:embeddedFont>
    <p:embeddedFont>
      <p:font typeface="Open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8519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Bike Path Detective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84078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City Ride Anomaly Hunter → turning messy mobility data into better city decisions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453878"/>
            <a:ext cx="1569690" cy="266402"/>
          </a:xfrm>
          <a:prstGeom prst="roundRect">
            <a:avLst>
              <a:gd name="adj" fmla="val 17880"/>
            </a:avLst>
          </a:prstGeom>
          <a:solidFill>
            <a:srgbClr val="FFD8CC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2496369"/>
            <a:ext cx="185678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DRAGOMIR TIMEEA-ELENA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6119" y="2879750"/>
            <a:ext cx="1477863" cy="266402"/>
          </a:xfrm>
          <a:prstGeom prst="roundRect">
            <a:avLst>
              <a:gd name="adj" fmla="val 17880"/>
            </a:avLst>
          </a:prstGeom>
          <a:solidFill>
            <a:srgbClr val="FFD8CC"/>
          </a:solidFill>
          <a:ln/>
        </p:spPr>
      </p:sp>
      <p:sp>
        <p:nvSpPr>
          <p:cNvPr id="8" name="Text 5"/>
          <p:cNvSpPr/>
          <p:nvPr/>
        </p:nvSpPr>
        <p:spPr>
          <a:xfrm>
            <a:off x="581174" y="2922240"/>
            <a:ext cx="176495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DRĂGHICI DENIS-DANIEL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96119" y="3305621"/>
            <a:ext cx="1549226" cy="266402"/>
          </a:xfrm>
          <a:prstGeom prst="roundRect">
            <a:avLst>
              <a:gd name="adj" fmla="val 17880"/>
            </a:avLst>
          </a:prstGeom>
          <a:solidFill>
            <a:srgbClr val="FFD8CC"/>
          </a:solidFill>
          <a:ln/>
        </p:spPr>
      </p:sp>
      <p:sp>
        <p:nvSpPr>
          <p:cNvPr id="10" name="Text 7"/>
          <p:cNvSpPr/>
          <p:nvPr/>
        </p:nvSpPr>
        <p:spPr>
          <a:xfrm>
            <a:off x="581174" y="3348112"/>
            <a:ext cx="183631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MICEA CHRISTIAN-ANDREI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96119" y="37314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01" y="407119"/>
            <a:ext cx="38352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Problem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472901" y="1022598"/>
            <a:ext cx="4769197" cy="990228"/>
          </a:xfrm>
          <a:prstGeom prst="roundRect">
            <a:avLst>
              <a:gd name="adj" fmla="val 5731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2725" y="1162422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Teleporting Bikes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12725" y="1450777"/>
            <a:ext cx="448954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Bikes appearing to cross town instantly, which are impossible ride records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2901" y="2141562"/>
            <a:ext cx="4769197" cy="779115"/>
          </a:xfrm>
          <a:prstGeom prst="roundRect">
            <a:avLst>
              <a:gd name="adj" fmla="val 7284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725" y="228138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Negative Durations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725" y="2569741"/>
            <a:ext cx="448954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Rides with negative or zero minute durations are errors in the data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2901" y="3049414"/>
            <a:ext cx="4769197" cy="779115"/>
          </a:xfrm>
          <a:prstGeom prst="roundRect">
            <a:avLst>
              <a:gd name="adj" fmla="val 7284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725" y="3189238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Double Bookings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2725" y="3477592"/>
            <a:ext cx="448954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bike starting a second ride before finishing the first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2901" y="3957265"/>
            <a:ext cx="4769197" cy="779115"/>
          </a:xfrm>
          <a:prstGeom prst="roundRect">
            <a:avLst>
              <a:gd name="adj" fmla="val 7284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725" y="409708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Anomalies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2725" y="4385444"/>
            <a:ext cx="448954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Many other data irregularities and suspicious behavior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21618"/>
            <a:ext cx="31707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Who Feels the Pain?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36" y="878904"/>
            <a:ext cx="4775299" cy="29845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72163" y="1857673"/>
            <a:ext cx="2449116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End User: City Mobility Operations Analyst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872163" y="2279749"/>
            <a:ext cx="2449116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 for a public bike-sharing program. Needs to make real decisions about bikes, stations, and routes, but spends hours manually fixing spreadsheets instead.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048" y="4050357"/>
            <a:ext cx="7503542" cy="771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2981" y="4173141"/>
            <a:ext cx="2048321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Questions they need to answer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992981" y="4392513"/>
            <a:ext cx="720082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stations are busiest? Which routes are popular? Are any bikes producing impossible records? Which records should be excluded from reports?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669"/>
            <a:ext cx="438723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How Bad Does It Hurt?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2417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Estimates based on multiple reruns of our data generator - probabilities can easily be tuned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581299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~10%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1260053" y="2226246"/>
            <a:ext cx="24593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Records That Need Cleaning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532757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Estimated share of ride records with formatting issues, duplicates, or inconsistencies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0553" y="1581299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~55%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5768206" y="22262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Invalid Records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0553" y="2532757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Estimated share with missing fields, impossible durations, invalid timestamps or other unfixable issues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3340745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10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1603697" y="39856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Known Stations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429220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City network stations → easily adjustable and modifiable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0553" y="3340745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10K</a:t>
            </a:r>
            <a:endParaRPr lang="en-US" sz="3650" dirty="0"/>
          </a:p>
        </p:txBody>
      </p:sp>
      <p:sp>
        <p:nvSpPr>
          <p:cNvPr id="14" name="Text 12"/>
          <p:cNvSpPr/>
          <p:nvPr/>
        </p:nvSpPr>
        <p:spPr>
          <a:xfrm>
            <a:off x="5768206" y="39856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Ride Records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0553" y="4292203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size → all requiring validation, cleaning, and anomaly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67680"/>
            <a:ext cx="4212208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Our Technical Solution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162" y="1032123"/>
            <a:ext cx="2737842" cy="531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066" y="168830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Read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8066" y="1970708"/>
            <a:ext cx="24720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CSV input via Python's built-in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module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004" y="1032123"/>
            <a:ext cx="2737917" cy="5316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35908" y="168830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Validate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335908" y="1970708"/>
            <a:ext cx="247211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business rules to each record and label them accordingly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921" y="1032123"/>
            <a:ext cx="2737917" cy="5316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3825" y="168830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Clean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073825" y="1970708"/>
            <a:ext cx="247211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Normalize fixable formatting issues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62" y="2515567"/>
            <a:ext cx="2737842" cy="5316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98066" y="3171751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Analyze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598066" y="3454152"/>
            <a:ext cx="24720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report with valuable statistics based on cleaned data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004" y="2515567"/>
            <a:ext cx="2737917" cy="53161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335908" y="3171751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Detect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3335908" y="3454152"/>
            <a:ext cx="247211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Flag anomalies and suspicious patterns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921" y="2515567"/>
            <a:ext cx="2737917" cy="53161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073825" y="3171751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Report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6073825" y="3454152"/>
            <a:ext cx="247211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Readable output for the operations analyst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465162" y="4139133"/>
            <a:ext cx="8213675" cy="496491"/>
          </a:xfrm>
          <a:prstGeom prst="roundRect">
            <a:avLst>
              <a:gd name="adj" fmla="val 11243"/>
            </a:avLst>
          </a:prstGeom>
          <a:solidFill>
            <a:srgbClr val="B6D6FC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66" y="4327029"/>
            <a:ext cx="166092" cy="13290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97062" y="4284390"/>
            <a:ext cx="810607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Constraint: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Python 3.13 builtins + standard library only. No Pandas. No NumPy. No third-party packages.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434432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Solution Architecture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03" y="2152650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Modular Design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14503" y="2419127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module has a single responsibility. 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orchestrates the full pipeline. Unit tests in 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protect business logic.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714503" y="2824832"/>
            <a:ext cx="3759622" cy="71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separated into 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clean, needs-cleaning, suspicious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beyond-repair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groups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Mock generator produces 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10,000+ records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controlled chaos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 written to  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reports/…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text files and/or terminal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0131"/>
            <a:ext cx="528853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Validation &amp; Cleaning Rules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747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What We Clean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10692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Trim whitespace, normalize casing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Bike IDs → uppercase (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bike-042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BIKE-042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Station names → title case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types → lowercase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Datetime formats unified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Distance strings (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"3.4 km"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3.4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24747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What We Flag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1610692"/>
            <a:ext cx="3902943" cy="2161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Missing required fields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Duplicate ride IDs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Unknown user types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Unknown stations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Negative or zero durations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 time before start time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Bikes with overlapping rides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Duration mismatches vs. timestamps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981152"/>
            <a:ext cx="8151763" cy="552748"/>
          </a:xfrm>
          <a:prstGeom prst="roundRect">
            <a:avLst>
              <a:gd name="adj" fmla="val 10772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4181921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6816" y="4144119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Rule of thumb: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Clean formatting problems. Report reality problems.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6302"/>
            <a:ext cx="548134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Anomaly Detection: 5+ Rules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62807"/>
            <a:ext cx="2622724" cy="17147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2351" y="136914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6927" y="18297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Bike Overlapping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136279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bike in two rides at the same time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262807"/>
            <a:ext cx="2622724" cy="17147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86833" y="136914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421410" y="1829767"/>
            <a:ext cx="21693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Station and Route Spikes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21410" y="2136279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Station and Route usage &gt; x1.3 average → event or data problem?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262807"/>
            <a:ext cx="2622724" cy="17147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1316" y="136914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185892" y="1829767"/>
            <a:ext cx="20892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Duration 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≠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Timestamps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85892" y="2136279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Recorded duration differs from timestamp calculation within threshold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19289"/>
            <a:ext cx="4004965" cy="148790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413508" y="322562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56927" y="368624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Unknown Stations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56927" y="3992761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Unknown stations in the records could mean typos, data entry errors or system issues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2842" y="3119289"/>
            <a:ext cx="4004965" cy="148790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60232" y="322562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803651" y="368624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Zero Duration Rides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803651" y="3992761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Rides with duration = 0 that start and stop at the same station are OK, the rest are not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9268"/>
            <a:ext cx="586814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Technical Challenges We Faced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95773"/>
            <a:ext cx="4004965" cy="9683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2263" y="2018705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91592" y="2481858"/>
            <a:ext cx="2613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Separation of responsabilities</a:t>
            </a:r>
            <a:endParaRPr lang="en-US" sz="13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42" y="1895773"/>
            <a:ext cx="4005039" cy="9683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9061" y="2018705"/>
            <a:ext cx="212601" cy="212601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250954" y="2481858"/>
            <a:ext cx="27888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Generating realistic, varied data</a:t>
            </a:r>
            <a:endParaRPr lang="en-US" sz="135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968350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92263" y="3128814"/>
            <a:ext cx="212601" cy="212601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711696" y="3591967"/>
            <a:ext cx="35738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Testing when working with 10K+ records</a:t>
            </a:r>
            <a:endParaRPr lang="en-US" sz="135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968350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9061" y="3128814"/>
            <a:ext cx="212601" cy="212601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5032921" y="3591967"/>
            <a:ext cx="32248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Repeated code with slight alterations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8741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From Messy Records to Better Decisions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2185988"/>
            <a:ext cx="4722763" cy="1870025"/>
          </a:xfrm>
          <a:prstGeom prst="roundRect">
            <a:avLst>
              <a:gd name="adj" fmla="val 3184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29881" y="2190750"/>
            <a:ext cx="2356619" cy="1043657"/>
          </a:xfrm>
          <a:prstGeom prst="roundRect">
            <a:avLst>
              <a:gd name="adj" fmla="val 5705"/>
            </a:avLst>
          </a:prstGeom>
          <a:solidFill>
            <a:srgbClr val="FFD8CC"/>
          </a:solidFill>
          <a:ln/>
        </p:spPr>
      </p:sp>
      <p:sp>
        <p:nvSpPr>
          <p:cNvPr id="6" name="Text 3"/>
          <p:cNvSpPr/>
          <p:nvPr/>
        </p:nvSpPr>
        <p:spPr>
          <a:xfrm>
            <a:off x="4071640" y="23325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Identify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639020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Unreliable ride records and impossible usage patterns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86500" y="2190750"/>
            <a:ext cx="2356619" cy="1043657"/>
          </a:xfrm>
          <a:prstGeom prst="rect">
            <a:avLst/>
          </a:prstGeom>
          <a:solidFill>
            <a:srgbClr val="FFD8CC"/>
          </a:solidFill>
          <a:ln/>
        </p:spPr>
      </p:sp>
      <p:sp>
        <p:nvSpPr>
          <p:cNvPr id="9" name="Shape 6"/>
          <p:cNvSpPr/>
          <p:nvPr/>
        </p:nvSpPr>
        <p:spPr>
          <a:xfrm>
            <a:off x="6286500" y="2190750"/>
            <a:ext cx="19050" cy="1043657"/>
          </a:xfrm>
          <a:prstGeom prst="roundRect">
            <a:avLst>
              <a:gd name="adj" fmla="val 312558"/>
            </a:avLst>
          </a:prstGeom>
          <a:solidFill>
            <a:srgbClr val="E5BEB2"/>
          </a:solidFill>
          <a:ln/>
        </p:spPr>
      </p:sp>
      <p:sp>
        <p:nvSpPr>
          <p:cNvPr id="10" name="Text 7"/>
          <p:cNvSpPr/>
          <p:nvPr/>
        </p:nvSpPr>
        <p:spPr>
          <a:xfrm>
            <a:off x="6428259" y="23325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Locate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28259" y="2639020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Overloaded stations and bikes with sync issues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29881" y="3234407"/>
            <a:ext cx="4713238" cy="816843"/>
          </a:xfrm>
          <a:prstGeom prst="rect">
            <a:avLst/>
          </a:prstGeom>
          <a:solidFill>
            <a:srgbClr val="FFD8CC"/>
          </a:solidFill>
          <a:ln/>
        </p:spPr>
      </p:sp>
      <p:sp>
        <p:nvSpPr>
          <p:cNvPr id="13" name="Shape 10"/>
          <p:cNvSpPr/>
          <p:nvPr/>
        </p:nvSpPr>
        <p:spPr>
          <a:xfrm>
            <a:off x="3929881" y="3234407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E5BEB2"/>
          </a:solidFill>
          <a:ln/>
        </p:spPr>
      </p:sp>
      <p:sp>
        <p:nvSpPr>
          <p:cNvPr id="14" name="Text 11"/>
          <p:cNvSpPr/>
          <p:nvPr/>
        </p:nvSpPr>
        <p:spPr>
          <a:xfrm>
            <a:off x="4071640" y="33761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Decide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71640" y="3682678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Exclude bad data, act on real patterns with confidence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2026-06-09T10:09:17Z</dcterms:created>
  <dcterms:modified xsi:type="dcterms:W3CDTF">2026-06-09T10:09:17Z</dcterms:modified>
</cp:coreProperties>
</file>